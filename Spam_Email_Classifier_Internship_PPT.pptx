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5744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0B4F52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937760"/>
            <a:ext cx="2926080" cy="2926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•  IILM UNIVERSITY, GREATER NOIDA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Spam Email</a:t>
            </a:r>
            <a:endParaRPr lang="en-US" sz="5400" dirty="0"/>
          </a:p>
          <a:p>
            <a:pPr marL="0" indent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based system to automatically distinguish spam from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email, built during an AI Internship at Codec Technologies Pvt. Ltd.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709160"/>
            <a:ext cx="6766560" cy="1417320"/>
          </a:xfrm>
          <a:prstGeom prst="roundRect">
            <a:avLst>
              <a:gd name="adj" fmla="val 5806"/>
            </a:avLst>
          </a:prstGeom>
          <a:solidFill>
            <a:srgbClr val="0C4B4D"/>
          </a:solidFill>
          <a:ln w="12700">
            <a:solidFill>
              <a:srgbClr val="1361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4892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514807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Harsh Lokwani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55138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25SCS1003003722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9768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297680" y="51480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2026 - 27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760720" y="4892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51480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Jun - 22 Jul 2026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  |  AICTE &amp; ICAC Approved AI Internship Program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&amp; Internship Snapshot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  <a:effectLst>
            <a:outerShdw blurRad="101600" dist="38100" dir="5400000" algn="bl" rotWithShape="0">
              <a:srgbClr val="1A2E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Details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26243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Lokwani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3035808"/>
            <a:ext cx="4800600" cy="0"/>
          </a:xfrm>
          <a:prstGeom prst="line">
            <a:avLst/>
          </a:prstGeom>
          <a:noFill/>
          <a:ln w="12700">
            <a:solidFill>
              <a:srgbClr val="DCEA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101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32826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25SCS1003003722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3694176"/>
            <a:ext cx="4800600" cy="0"/>
          </a:xfrm>
          <a:prstGeom prst="line">
            <a:avLst/>
          </a:prstGeom>
          <a:noFill/>
          <a:ln w="12700">
            <a:solidFill>
              <a:srgbClr val="DCEA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9684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PROGRAM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394106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B.Tech, Computer Science &amp; Engg.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68680" y="4352544"/>
            <a:ext cx="4800600" cy="0"/>
          </a:xfrm>
          <a:prstGeom prst="line">
            <a:avLst/>
          </a:prstGeom>
          <a:noFill/>
          <a:ln w="12700">
            <a:solidFill>
              <a:srgbClr val="DCEA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2686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45994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8680" y="5010912"/>
            <a:ext cx="4800600" cy="0"/>
          </a:xfrm>
          <a:prstGeom prst="line">
            <a:avLst/>
          </a:prstGeom>
          <a:noFill/>
          <a:ln w="12700">
            <a:solidFill>
              <a:srgbClr val="DCEA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2852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52578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2026 - 27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68680" y="5669280"/>
            <a:ext cx="4800600" cy="0"/>
          </a:xfrm>
          <a:prstGeom prst="line">
            <a:avLst/>
          </a:prstGeom>
          <a:noFill/>
          <a:ln w="12700">
            <a:solidFill>
              <a:srgbClr val="DCEA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45352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023436"/>
          </a:solidFill>
          <a:ln/>
          <a:effectLst>
            <a:outerShdw blurRad="101600" dist="38100" dir="5400000" algn="bl" rotWithShape="0">
              <a:srgbClr val="1A2E2E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192024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6519672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3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05472" y="19476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Profile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565392" y="26060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7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21040" y="25603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Internship — Codec Technologies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65392" y="3200400"/>
            <a:ext cx="4800600" cy="0"/>
          </a:xfrm>
          <a:prstGeom prst="line">
            <a:avLst/>
          </a:prstGeom>
          <a:noFill/>
          <a:ln w="12700">
            <a:solidFill>
              <a:srgbClr val="0F5B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65392" y="32918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7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32461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65392" y="3886200"/>
            <a:ext cx="4800600" cy="0"/>
          </a:xfrm>
          <a:prstGeom prst="line">
            <a:avLst/>
          </a:prstGeom>
          <a:noFill/>
          <a:ln w="12700">
            <a:solidFill>
              <a:srgbClr val="0F5B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39776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7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21040" y="39319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/ ICAC approved, National Internship Portal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65392" y="4572000"/>
            <a:ext cx="4800600" cy="0"/>
          </a:xfrm>
          <a:prstGeom prst="line">
            <a:avLst/>
          </a:prstGeom>
          <a:noFill/>
          <a:ln w="12700">
            <a:solidFill>
              <a:srgbClr val="0F5B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46634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7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21040" y="4617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month: 20 Jun – 22 Jul 2026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65392" y="5257800"/>
            <a:ext cx="4800600" cy="0"/>
          </a:xfrm>
          <a:prstGeom prst="line">
            <a:avLst/>
          </a:prstGeom>
          <a:noFill/>
          <a:ln w="12700">
            <a:solidFill>
              <a:srgbClr val="0F5B5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5349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7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21040" y="53035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Anurag Shrivastava, Program Manager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  •  AI Internship Report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492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has become one of the most transformative technologies of the present era — enabling systems to learn from data, identify patterns, and make intelligent decisions with minimal human intervention.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6492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part of the B.Tech CSE curriculum, a one-month AI Internship was undertaken at Codec Technologies Pvt. Ltd., during which a Spam Email Classifier was designed — a machine learning system that automatically distinguishes between legitimate (‘ham’) and unwanted (‘spam’) emails based on their textual content.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06640" y="1691640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1691640"/>
            <a:ext cx="109728" cy="123444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7726680" y="18288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Month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726680" y="2423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3108960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3108960"/>
            <a:ext cx="109728" cy="123444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7726680" y="32461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726680" y="38404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compared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06640" y="4526280"/>
            <a:ext cx="40690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4526280"/>
            <a:ext cx="109728" cy="123444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726680" y="4663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726680" y="5257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ICAC approved program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  •  AI Internship Report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486400" cy="5486400"/>
          </a:xfrm>
          <a:prstGeom prst="ellipse">
            <a:avLst/>
          </a:prstGeom>
          <a:solidFill>
            <a:srgbClr val="0B4F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C4B4D"/>
          </a:solidFill>
          <a:ln w="12700">
            <a:solidFill>
              <a:srgbClr val="1361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9456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served through IT &amp; business consultancy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9659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C4B4D"/>
          </a:solidFill>
          <a:ln w="12700">
            <a:solidFill>
              <a:srgbClr val="1361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19456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 9001:2015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92240" y="27889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quality management processes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C4B4D"/>
          </a:solidFill>
          <a:ln w="12700">
            <a:solidFill>
              <a:srgbClr val="1361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3434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Partner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68680" y="49377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Google for Education Partner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41148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0C4B4D"/>
          </a:solidFill>
          <a:ln w="12700">
            <a:solidFill>
              <a:srgbClr val="1361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34340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Mumbai HQ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92240" y="49377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Chandivali IT Hub — Pan-India hybrid programs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87044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AICTE and ICAC approved internship programs listed on the National Internship Portal across Artificial Intelligence, Web Development, Data Science, and Cybersecurity — with interns reporting to assigned project heads under periodic performance evaluation.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  •  AI Internship Report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9F6F4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08483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exponential growth of email communication, spam has become a persistent and evolving problem — ranging from harmless ads to malicious phishing attempts designed to steal sensitive user information.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36393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3639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4251960"/>
            <a:ext cx="3054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filtering doesn’t scale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4672" y="4754880"/>
            <a:ext cx="3054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sheer daily volume of email received by users and organizations makes manual review impractical.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33832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9432" y="36393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3639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99432" y="4251960"/>
            <a:ext cx="3054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productivity risk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99432" y="4754880"/>
            <a:ext cx="3054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Unfiltered spam and phishing increase security exposure and reduce user productivity.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33832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94192" y="363931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394192" y="3639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94192" y="4251960"/>
            <a:ext cx="3054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automation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94192" y="4754880"/>
            <a:ext cx="30540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system must classify incoming mail as spam or legitimate using its content alone.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design and implement such a classifier using supervised machine learning techniques.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  •  AI Internship Report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34440" y="1645920"/>
            <a:ext cx="10378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64592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pre-process a labelled email / SMS dataset consisting of spam and ham messages.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32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234440" y="2487168"/>
            <a:ext cx="10378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4871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unstructured text into numerical feature vectors using Bag-of-Words and TF-IDF.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74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234440" y="3328416"/>
            <a:ext cx="10378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332841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compare classification models — primarily Multinomial Naive Bayes and SVM — for spam detection.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153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234440" y="4169664"/>
            <a:ext cx="10378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416966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 performance using accuracy, precision, recall, F1-score, and a confusion matrix.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0566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234440" y="5010912"/>
            <a:ext cx="103784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5010912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simple, functional prediction pipeline to classify a new, unseen email as spam or ham.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  •  AI Internship Report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E9F6F4"/>
          </a:solidFill>
          <a:ln w="15875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359152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2199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 classification of English-language emails / SMS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3072384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935224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supervised ML algorithms (Naive Bayes, SVM)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3785616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648456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message class from textual content only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498848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36168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Proof-of-concept model for academic / learning purposes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45352" y="16459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BEFEC"/>
          </a:solidFill>
          <a:ln w="15875">
            <a:solidFill>
              <a:srgbClr val="D98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65392" y="2359152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839712" y="2221992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email attachments for malware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65392" y="3072384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/>
          <p:nvPr/>
        </p:nvSpPr>
        <p:spPr>
          <a:xfrm>
            <a:off x="6839712" y="2935224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embedded images within messages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65392" y="3785616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839712" y="3648456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Inspecting embedded links for phishing detection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65392" y="4498848"/>
            <a:ext cx="146304" cy="14630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6839712" y="436168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as a live, real-time filtering system (future work)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  •  AI Internship Report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0B4F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0C4B4D"/>
          </a:solidFill>
          <a:ln w="12700">
            <a:solidFill>
              <a:srgbClr val="136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01368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4672" y="2221992"/>
            <a:ext cx="3054096" cy="402336"/>
          </a:xfrm>
          <a:prstGeom prst="roundRect">
            <a:avLst>
              <a:gd name="adj" fmla="val 50000"/>
            </a:avLst>
          </a:prstGeom>
          <a:solidFill>
            <a:srgbClr val="104E4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221992"/>
            <a:ext cx="3054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0C4B4D"/>
          </a:solidFill>
          <a:ln w="12700">
            <a:solidFill>
              <a:srgbClr val="1361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801368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LIBRARIES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53712" y="2221992"/>
            <a:ext cx="3054096" cy="402336"/>
          </a:xfrm>
          <a:prstGeom prst="roundRect">
            <a:avLst>
              <a:gd name="adj" fmla="val 50000"/>
            </a:avLst>
          </a:prstGeom>
          <a:solidFill>
            <a:srgbClr val="104E4F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2221992"/>
            <a:ext cx="3054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53712" y="2734056"/>
            <a:ext cx="3054096" cy="402336"/>
          </a:xfrm>
          <a:prstGeom prst="roundRect">
            <a:avLst>
              <a:gd name="adj" fmla="val 50000"/>
            </a:avLst>
          </a:prstGeom>
          <a:solidFill>
            <a:srgbClr val="104E4F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2734056"/>
            <a:ext cx="3054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53712" y="3246120"/>
            <a:ext cx="3054096" cy="402336"/>
          </a:xfrm>
          <a:prstGeom prst="roundRect">
            <a:avLst>
              <a:gd name="adj" fmla="val 50000"/>
            </a:avLst>
          </a:prstGeom>
          <a:solidFill>
            <a:srgbClr val="104E4F"/>
          </a:solidFill>
          <a:ln/>
        </p:spPr>
      </p:sp>
      <p:sp>
        <p:nvSpPr>
          <p:cNvPr id="16" name="Text 14"/>
          <p:cNvSpPr/>
          <p:nvPr/>
        </p:nvSpPr>
        <p:spPr>
          <a:xfrm>
            <a:off x="4553712" y="3246120"/>
            <a:ext cx="3054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60020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0C4B4D"/>
          </a:solidFill>
          <a:ln w="12700">
            <a:solidFill>
              <a:srgbClr val="1361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801368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&amp; VISUALIZATION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02752" y="2221992"/>
            <a:ext cx="3054096" cy="402336"/>
          </a:xfrm>
          <a:prstGeom prst="roundRect">
            <a:avLst>
              <a:gd name="adj" fmla="val 50000"/>
            </a:avLst>
          </a:prstGeom>
          <a:solidFill>
            <a:srgbClr val="104E4F"/>
          </a:solidFill>
          <a:ln/>
        </p:spPr>
      </p:sp>
      <p:sp>
        <p:nvSpPr>
          <p:cNvPr id="20" name="Text 18"/>
          <p:cNvSpPr/>
          <p:nvPr/>
        </p:nvSpPr>
        <p:spPr>
          <a:xfrm>
            <a:off x="8302752" y="2221992"/>
            <a:ext cx="3054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302752" y="2734056"/>
            <a:ext cx="3054096" cy="402336"/>
          </a:xfrm>
          <a:prstGeom prst="roundRect">
            <a:avLst>
              <a:gd name="adj" fmla="val 50000"/>
            </a:avLst>
          </a:prstGeom>
          <a:solidFill>
            <a:srgbClr val="104E4F"/>
          </a:solidFill>
          <a:ln/>
        </p:spPr>
      </p:sp>
      <p:sp>
        <p:nvSpPr>
          <p:cNvPr id="22" name="Text 20"/>
          <p:cNvSpPr/>
          <p:nvPr/>
        </p:nvSpPr>
        <p:spPr>
          <a:xfrm>
            <a:off x="8302752" y="2734056"/>
            <a:ext cx="3054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02752" y="3246120"/>
            <a:ext cx="3054096" cy="402336"/>
          </a:xfrm>
          <a:prstGeom prst="roundRect">
            <a:avLst>
              <a:gd name="adj" fmla="val 50000"/>
            </a:avLst>
          </a:prstGeom>
          <a:solidFill>
            <a:srgbClr val="104E4F"/>
          </a:solidFill>
          <a:ln/>
        </p:spPr>
      </p:sp>
      <p:sp>
        <p:nvSpPr>
          <p:cNvPr id="24" name="Text 22"/>
          <p:cNvSpPr/>
          <p:nvPr/>
        </p:nvSpPr>
        <p:spPr>
          <a:xfrm>
            <a:off x="8302752" y="3246120"/>
            <a:ext cx="3054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2062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0C4B4D"/>
          </a:solidFill>
          <a:ln w="12700">
            <a:solidFill>
              <a:srgbClr val="1361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407408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" y="4828032"/>
            <a:ext cx="3054096" cy="402336"/>
          </a:xfrm>
          <a:prstGeom prst="roundRect">
            <a:avLst>
              <a:gd name="adj" fmla="val 50000"/>
            </a:avLst>
          </a:prstGeom>
          <a:solidFill>
            <a:srgbClr val="104E4F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4828032"/>
            <a:ext cx="3054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" y="5340096"/>
            <a:ext cx="3054096" cy="402336"/>
          </a:xfrm>
          <a:prstGeom prst="roundRect">
            <a:avLst>
              <a:gd name="adj" fmla="val 50000"/>
            </a:avLst>
          </a:prstGeom>
          <a:solidFill>
            <a:srgbClr val="104E4F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5340096"/>
            <a:ext cx="3054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(SVM)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97680" y="42062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0C4B4D"/>
          </a:solidFill>
          <a:ln w="12700">
            <a:solidFill>
              <a:srgbClr val="1361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53712" y="4407408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53712" y="4828032"/>
            <a:ext cx="3054096" cy="402336"/>
          </a:xfrm>
          <a:prstGeom prst="roundRect">
            <a:avLst>
              <a:gd name="adj" fmla="val 50000"/>
            </a:avLst>
          </a:prstGeom>
          <a:solidFill>
            <a:srgbClr val="104E4F"/>
          </a:solidFill>
          <a:ln/>
        </p:spPr>
      </p:sp>
      <p:sp>
        <p:nvSpPr>
          <p:cNvPr id="34" name="Text 32"/>
          <p:cNvSpPr/>
          <p:nvPr/>
        </p:nvSpPr>
        <p:spPr>
          <a:xfrm>
            <a:off x="4553712" y="4828032"/>
            <a:ext cx="3054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53712" y="5340096"/>
            <a:ext cx="3054096" cy="402336"/>
          </a:xfrm>
          <a:prstGeom prst="roundRect">
            <a:avLst>
              <a:gd name="adj" fmla="val 50000"/>
            </a:avLst>
          </a:prstGeom>
          <a:solidFill>
            <a:srgbClr val="104E4F"/>
          </a:solidFill>
          <a:ln/>
        </p:spPr>
      </p:sp>
      <p:sp>
        <p:nvSpPr>
          <p:cNvPr id="36" name="Text 34"/>
          <p:cNvSpPr/>
          <p:nvPr/>
        </p:nvSpPr>
        <p:spPr>
          <a:xfrm>
            <a:off x="4553712" y="5340096"/>
            <a:ext cx="3054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46720" y="42062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0C4B4D"/>
          </a:solidFill>
          <a:ln w="12700">
            <a:solidFill>
              <a:srgbClr val="1361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02752" y="4407408"/>
            <a:ext cx="30540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VCS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302752" y="4828032"/>
            <a:ext cx="3054096" cy="402336"/>
          </a:xfrm>
          <a:prstGeom prst="roundRect">
            <a:avLst>
              <a:gd name="adj" fmla="val 50000"/>
            </a:avLst>
          </a:prstGeom>
          <a:solidFill>
            <a:srgbClr val="104E4F"/>
          </a:solidFill>
          <a:ln/>
        </p:spPr>
      </p:sp>
      <p:sp>
        <p:nvSpPr>
          <p:cNvPr id="40" name="Text 38"/>
          <p:cNvSpPr/>
          <p:nvPr/>
        </p:nvSpPr>
        <p:spPr>
          <a:xfrm>
            <a:off x="8302752" y="4828032"/>
            <a:ext cx="3054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302752" y="5340096"/>
            <a:ext cx="3054096" cy="402336"/>
          </a:xfrm>
          <a:prstGeom prst="roundRect">
            <a:avLst>
              <a:gd name="adj" fmla="val 50000"/>
            </a:avLst>
          </a:prstGeom>
          <a:solidFill>
            <a:srgbClr val="104E4F"/>
          </a:solidFill>
          <a:ln/>
        </p:spPr>
      </p:sp>
      <p:sp>
        <p:nvSpPr>
          <p:cNvPr id="42" name="Text 40"/>
          <p:cNvSpPr/>
          <p:nvPr/>
        </p:nvSpPr>
        <p:spPr>
          <a:xfrm>
            <a:off x="8302752" y="5340096"/>
            <a:ext cx="3054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302752" y="5852160"/>
            <a:ext cx="3054096" cy="402336"/>
          </a:xfrm>
          <a:prstGeom prst="roundRect">
            <a:avLst>
              <a:gd name="adj" fmla="val 50000"/>
            </a:avLst>
          </a:prstGeom>
          <a:solidFill>
            <a:srgbClr val="104E4F"/>
          </a:solidFill>
          <a:ln/>
        </p:spPr>
      </p:sp>
      <p:sp>
        <p:nvSpPr>
          <p:cNvPr id="44" name="Text 42"/>
          <p:cNvSpPr/>
          <p:nvPr/>
        </p:nvSpPr>
        <p:spPr>
          <a:xfrm>
            <a:off x="8302752" y="5852160"/>
            <a:ext cx="3054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  •  AI Internship Report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6276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A2E2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1288" y="221284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161288" y="2212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" y="2697480"/>
            <a:ext cx="1517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76272" y="3063240"/>
            <a:ext cx="259690" cy="182880"/>
          </a:xfrm>
          <a:prstGeom prst="rightArrow">
            <a:avLst/>
          </a:prstGeom>
          <a:solidFill>
            <a:srgbClr val="B9D8D6"/>
          </a:solidFill>
          <a:ln/>
        </p:spPr>
      </p:sp>
      <p:sp>
        <p:nvSpPr>
          <p:cNvPr id="9" name="Shape 7"/>
          <p:cNvSpPr/>
          <p:nvPr/>
        </p:nvSpPr>
        <p:spPr>
          <a:xfrm>
            <a:off x="2435962" y="2468880"/>
            <a:ext cx="16276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blurRad="76200" dist="25400" dir="5400000" algn="bl" rotWithShape="0">
              <a:srgbClr val="1A2E2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48610" y="221284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3048610" y="2212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90826" y="2697480"/>
            <a:ext cx="1517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Pre-processing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63594" y="3063240"/>
            <a:ext cx="259690" cy="182880"/>
          </a:xfrm>
          <a:prstGeom prst="rightArrow">
            <a:avLst/>
          </a:prstGeom>
          <a:solidFill>
            <a:srgbClr val="B9D8D6"/>
          </a:solidFill>
          <a:ln/>
        </p:spPr>
      </p:sp>
      <p:sp>
        <p:nvSpPr>
          <p:cNvPr id="14" name="Shape 12"/>
          <p:cNvSpPr/>
          <p:nvPr/>
        </p:nvSpPr>
        <p:spPr>
          <a:xfrm>
            <a:off x="4323283" y="2468880"/>
            <a:ext cx="16276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A2E2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5931" y="221284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935931" y="2212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78147" y="2697480"/>
            <a:ext cx="1517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50915" y="3063240"/>
            <a:ext cx="259690" cy="182880"/>
          </a:xfrm>
          <a:prstGeom prst="rightArrow">
            <a:avLst/>
          </a:prstGeom>
          <a:solidFill>
            <a:srgbClr val="B9D8D6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0605" y="2468880"/>
            <a:ext cx="16276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blurRad="76200" dist="25400" dir="5400000" algn="bl" rotWithShape="0">
              <a:srgbClr val="1A2E2E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23253" y="221284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823253" y="2212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5469" y="2697480"/>
            <a:ext cx="1517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838237" y="3063240"/>
            <a:ext cx="259690" cy="182880"/>
          </a:xfrm>
          <a:prstGeom prst="rightArrow">
            <a:avLst/>
          </a:prstGeom>
          <a:solidFill>
            <a:srgbClr val="B9D8D6"/>
          </a:solidFill>
          <a:ln/>
        </p:spPr>
      </p:sp>
      <p:sp>
        <p:nvSpPr>
          <p:cNvPr id="24" name="Shape 22"/>
          <p:cNvSpPr/>
          <p:nvPr/>
        </p:nvSpPr>
        <p:spPr>
          <a:xfrm>
            <a:off x="8097926" y="2468880"/>
            <a:ext cx="16276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A2E2E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710574" y="221284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710574" y="2212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52790" y="2697480"/>
            <a:ext cx="1517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725558" y="3063240"/>
            <a:ext cx="259690" cy="182880"/>
          </a:xfrm>
          <a:prstGeom prst="rightArrow">
            <a:avLst/>
          </a:prstGeom>
          <a:solidFill>
            <a:srgbClr val="B9D8D6"/>
          </a:solidFill>
          <a:ln/>
        </p:spPr>
      </p:sp>
      <p:sp>
        <p:nvSpPr>
          <p:cNvPr id="29" name="Shape 27"/>
          <p:cNvSpPr/>
          <p:nvPr/>
        </p:nvSpPr>
        <p:spPr>
          <a:xfrm>
            <a:off x="9985248" y="2468880"/>
            <a:ext cx="162763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blurRad="76200" dist="25400" dir="5400000" algn="bl" rotWithShape="0">
              <a:srgbClr val="1A2E2E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597896" y="2212848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10597896" y="22128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40112" y="2697480"/>
            <a:ext cx="15179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3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43891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ML pipeline: a labelled spam/ham dataset is cleaned and tokenized, converted into TF-IDF / Bag-of-Words vectors, used to train Naive Bayes and SVM classifiers, evaluated on unseen data, and the best model powers the final prediction module for new, incoming messages.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48640" y="55321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9F6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stages: Data Collection → Pre-processing → Feature Extraction → Model Training → Model Evaluation → Prediction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  •  AI Internship Report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54533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Acquisition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51560" y="185623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publicly available labelled spam/ham dataset (similar to SMS Spam Collection) with thousands of tagged messages.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740664" y="1984248"/>
            <a:ext cx="0" cy="384048"/>
          </a:xfrm>
          <a:prstGeom prst="line">
            <a:avLst/>
          </a:prstGeom>
          <a:noFill/>
          <a:ln w="19050">
            <a:solidFill>
              <a:srgbClr val="DCEAE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26791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79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262432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1560" y="2935224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Lowercasing, removing punctuation &amp; stop words, tokenization and stemming using NLTK.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40664" y="3063240"/>
            <a:ext cx="0" cy="384048"/>
          </a:xfrm>
          <a:prstGeom prst="line">
            <a:avLst/>
          </a:prstGeom>
          <a:noFill/>
          <a:ln w="19050">
            <a:solidFill>
              <a:srgbClr val="DCEAE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375818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58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37033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Train-Test Split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51560" y="4014216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training / 20% testing subsets to ensure unbiased evaluation.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40664" y="4142232"/>
            <a:ext cx="0" cy="384048"/>
          </a:xfrm>
          <a:prstGeom prst="line">
            <a:avLst/>
          </a:prstGeom>
          <a:noFill/>
          <a:ln w="19050">
            <a:solidFill>
              <a:srgbClr val="DCEAE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" y="483717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37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478231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51560" y="5093208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 converts pre-processed text into numerical feature vectors.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217920" y="160020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20840" y="1545336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Building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20840" y="1856232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Naive Bayes and SVM implemented and trained with scikit-learn.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6409944" y="1984248"/>
            <a:ext cx="0" cy="384048"/>
          </a:xfrm>
          <a:prstGeom prst="line">
            <a:avLst/>
          </a:prstGeom>
          <a:noFill/>
          <a:ln w="19050">
            <a:solidFill>
              <a:srgbClr val="DCEAEA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217920" y="267919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2679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20840" y="2624328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720840" y="2935224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F1-score and confusion matrix compare both algorithms.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409944" y="3063240"/>
            <a:ext cx="0" cy="384048"/>
          </a:xfrm>
          <a:prstGeom prst="line">
            <a:avLst/>
          </a:prstGeom>
          <a:noFill/>
          <a:ln w="19050">
            <a:solidFill>
              <a:srgbClr val="DCEAEA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217920" y="375818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3758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720840" y="3703320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Validation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720840" y="4014216"/>
            <a:ext cx="4892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selected model tested on new, unseen sample emails for real-world validation.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  •  AI Internship Report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4.9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Spam Email Classifier that accurately distinguishes spam from legitimate email.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92024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46888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performance analysis between Naive Bayes and SVM classifiers.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92024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920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246888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model achieving high classification accuracy, ready for further extension.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1148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466344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exposure to the complete AI/ML development lifecycle.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88620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CEA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41148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4114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26280" y="4663440"/>
            <a:ext cx="3108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73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understanding of NLP concepts in real-world problems.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  •  AI Internship Report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3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486400" cy="5486400"/>
          </a:xfrm>
          <a:prstGeom prst="ellipse">
            <a:avLst/>
          </a:prstGeom>
          <a:solidFill>
            <a:srgbClr val="0B4F52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4572000" cy="45720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179576" y="1030986"/>
            <a:ext cx="8659368" cy="1522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CF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 — an Artificial Intelligence Internship project at Codec Technologies Pvt. Ltd., presented in partial fulfilment of the B.Tech CSE degree at IILM University, Greater Noida.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5669280" cy="1234440"/>
          </a:xfrm>
          <a:prstGeom prst="roundRect">
            <a:avLst>
              <a:gd name="adj" fmla="val 6667"/>
            </a:avLst>
          </a:prstGeom>
          <a:solidFill>
            <a:srgbClr val="0C4B4D"/>
          </a:solidFill>
          <a:ln w="12700">
            <a:solidFill>
              <a:srgbClr val="136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Harsh Lokwani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51206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25SCS1003003722  |  B.Tech CSE, Batch 2026-27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5394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Email Classifier  •  AI Internship Report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1072</Words>
  <Application>Microsoft Office PowerPoint</Application>
  <PresentationFormat>Widescreen</PresentationFormat>
  <Paragraphs>217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 Lokwani</cp:lastModifiedBy>
  <cp:revision>2</cp:revision>
  <dcterms:created xsi:type="dcterms:W3CDTF">2026-09-09T20:13:05Z</dcterms:created>
  <dcterms:modified xsi:type="dcterms:W3CDTF">2026-09-09T20:20:00Z</dcterms:modified>
</cp:coreProperties>
</file>